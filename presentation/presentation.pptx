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6" r:id="rId3"/>
    <p:sldId id="257" r:id="rId4"/>
    <p:sldId id="267" r:id="rId5"/>
    <p:sldId id="259" r:id="rId6"/>
    <p:sldId id="260" r:id="rId7"/>
    <p:sldId id="261" r:id="rId8"/>
    <p:sldId id="271" r:id="rId9"/>
    <p:sldId id="262" r:id="rId10"/>
    <p:sldId id="270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C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77152"/>
  </p:normalViewPr>
  <p:slideViewPr>
    <p:cSldViewPr snapToGrid="0">
      <p:cViewPr varScale="1">
        <p:scale>
          <a:sx n="83" d="100"/>
          <a:sy n="83" d="100"/>
        </p:scale>
        <p:origin x="1696" y="200"/>
      </p:cViewPr>
      <p:guideLst/>
    </p:cSldViewPr>
  </p:slideViewPr>
  <p:outlineViewPr>
    <p:cViewPr>
      <p:scale>
        <a:sx n="33" d="100"/>
        <a:sy n="33" d="100"/>
      </p:scale>
      <p:origin x="0" y="-396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D9F57A-92F9-8144-8F7F-910E62EA7261}" type="datetimeFigureOut">
              <a:rPr lang="en-CY" smtClean="0"/>
              <a:t>21/03/2024</a:t>
            </a:fld>
            <a:endParaRPr lang="en-C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7D47D6-B744-FF4B-81F7-538FC5E5B086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1010269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D47D6-B744-FF4B-81F7-538FC5E5B086}" type="slidenum">
              <a:rPr lang="en-CY" smtClean="0"/>
              <a:t>1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1394449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C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D47D6-B744-FF4B-81F7-538FC5E5B086}" type="slidenum">
              <a:rPr lang="en-CY" smtClean="0"/>
              <a:t>2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33085728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D47D6-B744-FF4B-81F7-538FC5E5B086}" type="slidenum">
              <a:rPr lang="en-CY" smtClean="0"/>
              <a:t>3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21758004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D47D6-B744-FF4B-81F7-538FC5E5B086}" type="slidenum">
              <a:rPr lang="en-CY" smtClean="0"/>
              <a:t>4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17027676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D47D6-B744-FF4B-81F7-538FC5E5B086}" type="slidenum">
              <a:rPr lang="en-CY" smtClean="0"/>
              <a:t>5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3177464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D47D6-B744-FF4B-81F7-538FC5E5B086}" type="slidenum">
              <a:rPr lang="en-CY" smtClean="0"/>
              <a:t>6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3923122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D47D6-B744-FF4B-81F7-538FC5E5B086}" type="slidenum">
              <a:rPr lang="en-CY" smtClean="0"/>
              <a:t>7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37678350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D47D6-B744-FF4B-81F7-538FC5E5B086}" type="slidenum">
              <a:rPr lang="en-CY" smtClean="0"/>
              <a:t>8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16675399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D47D6-B744-FF4B-81F7-538FC5E5B086}" type="slidenum">
              <a:rPr lang="en-CY" smtClean="0"/>
              <a:t>9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32037713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D47D6-B744-FF4B-81F7-538FC5E5B086}" type="slidenum">
              <a:rPr lang="en-CY" smtClean="0"/>
              <a:t>10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13733761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D47D6-B744-FF4B-81F7-538FC5E5B086}" type="slidenum">
              <a:rPr lang="en-CY" smtClean="0"/>
              <a:t>11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35764878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D47D6-B744-FF4B-81F7-538FC5E5B086}" type="slidenum">
              <a:rPr lang="en-CY" smtClean="0"/>
              <a:t>12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26556360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D47D6-B744-FF4B-81F7-538FC5E5B086}" type="slidenum">
              <a:rPr lang="en-CY" smtClean="0"/>
              <a:t>13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3814694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14361-D654-A672-DC9E-A14E9C1C26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C3B9A4-93FA-600B-2062-C9C61E7F66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98A12-D756-94C0-A964-D930E202B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0C2DA-637B-B549-8334-DE0B5A7DCFA5}" type="datetimeFigureOut">
              <a:rPr lang="en-CY" smtClean="0"/>
              <a:t>21/03/2024</a:t>
            </a:fld>
            <a:endParaRPr lang="en-C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2B83B-318A-85C1-B83A-A0720CEBF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A4961-1876-D86C-4C96-D5BF874D0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B8EAC-C08F-3F4A-A519-AB6BB1441BAD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19229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291BE-6ED8-8EBA-E42B-4CB5A8CC9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BF0E5-5C23-4C34-8727-8CFAD422C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3DD72-E741-7512-00F2-B56E26488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0C2DA-637B-B549-8334-DE0B5A7DCFA5}" type="datetimeFigureOut">
              <a:rPr lang="en-CY" smtClean="0"/>
              <a:t>21/03/2024</a:t>
            </a:fld>
            <a:endParaRPr lang="en-C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03CC1E-67DF-7781-FC4D-3E5FC0630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A0D5B-AB94-F681-1FFB-BF9233E57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B8EAC-C08F-3F4A-A519-AB6BB1441BAD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3699208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C64F2-8F11-DE8B-579B-BF48468EE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270C0D-07E4-505D-53AB-1EBB39203B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1E254-000F-B327-A831-F6646D3EB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0C2DA-637B-B549-8334-DE0B5A7DCFA5}" type="datetimeFigureOut">
              <a:rPr lang="en-CY" smtClean="0"/>
              <a:t>21/03/2024</a:t>
            </a:fld>
            <a:endParaRPr lang="en-C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1A4FF-EAF3-05BF-5F64-6E823743D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6CC1D-4F33-A9C4-007F-9744046BB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B8EAC-C08F-3F4A-A519-AB6BB1441BAD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986150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D83FF-0B66-27D0-C0A2-E31804F7B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92D21-B2BB-0AF5-EFFC-378F67A001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F1CE94-B982-C525-3639-F18F66A795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FBD4DB-DA60-D748-3662-D50E747CA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0C2DA-637B-B549-8334-DE0B5A7DCFA5}" type="datetimeFigureOut">
              <a:rPr lang="en-CY" smtClean="0"/>
              <a:t>21/03/2024</a:t>
            </a:fld>
            <a:endParaRPr lang="en-C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F94006-4860-47B0-B3FA-D9DADD534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C280CF-AE83-3CDD-D9FD-1E3BBA6CE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B8EAC-C08F-3F4A-A519-AB6BB1441BAD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3218447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23B71-A888-209B-4721-04ECA3E2D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062DA5-1269-3B11-1D40-11C4D1A89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D88DBA-F370-B167-94CB-B7242C5F3A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CAEC5-C37E-606B-62B4-9F25F500EA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B378AB-7B26-57CC-8DA0-36541F63A3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C876FA-E72A-5149-D60B-37D5F4CE8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0C2DA-637B-B549-8334-DE0B5A7DCFA5}" type="datetimeFigureOut">
              <a:rPr lang="en-CY" smtClean="0"/>
              <a:t>21/03/2024</a:t>
            </a:fld>
            <a:endParaRPr lang="en-C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AB731D-2202-66F5-7E64-16E6CCD1A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C065CD-A4BC-1FC6-E425-3E8A617D9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B8EAC-C08F-3F4A-A519-AB6BB1441BAD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821135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6B7C3-0F68-3FC0-70AF-A7D531E37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E6A755-85AF-4052-4C22-1DDC21FD3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0C2DA-637B-B549-8334-DE0B5A7DCFA5}" type="datetimeFigureOut">
              <a:rPr lang="en-CY" smtClean="0"/>
              <a:t>21/03/2024</a:t>
            </a:fld>
            <a:endParaRPr lang="en-C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9D6B66-CDF4-4467-8D7B-FF4CF6755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F24CA-C6F8-98C9-7A3F-8A1B754AF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B8EAC-C08F-3F4A-A519-AB6BB1441BAD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108736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AF45BD-703B-9313-C24A-190CD626C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0C2DA-637B-B549-8334-DE0B5A7DCFA5}" type="datetimeFigureOut">
              <a:rPr lang="en-CY" smtClean="0"/>
              <a:t>21/03/2024</a:t>
            </a:fld>
            <a:endParaRPr lang="en-C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46576E-568D-756C-419D-92D6A1F2A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021BB-2AED-8833-E71B-61302AFFD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B8EAC-C08F-3F4A-A519-AB6BB1441BAD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2942467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59135-6895-B6AC-69B2-6E3F93D1F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3B37C-A533-7908-49A6-AE9175774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C23F1E-4A8B-AFBA-FB9F-F117A4494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A886FF-4440-672E-FBB4-C78EA1F08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0C2DA-637B-B549-8334-DE0B5A7DCFA5}" type="datetimeFigureOut">
              <a:rPr lang="en-CY" smtClean="0"/>
              <a:t>21/03/2024</a:t>
            </a:fld>
            <a:endParaRPr lang="en-C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328D75-BD70-D447-1A8F-995B4F620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1DBA1-29FE-8BA6-8BD1-1F1DC41A4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B8EAC-C08F-3F4A-A519-AB6BB1441BAD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34118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53D8F-72C8-BE67-D63B-D0A839455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119852-B6F0-17CA-2B96-3EACD9B8C2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530114-2D95-0394-698D-DD8E503760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468611-CC16-B8B6-6CA5-F453FE6F5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0C2DA-637B-B549-8334-DE0B5A7DCFA5}" type="datetimeFigureOut">
              <a:rPr lang="en-CY" smtClean="0"/>
              <a:t>21/03/2024</a:t>
            </a:fld>
            <a:endParaRPr lang="en-C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CA096E-BAA6-386F-28D5-A56B3FC04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88E0B7-E9E1-EDB9-A427-D8FA1DB9B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B8EAC-C08F-3F4A-A519-AB6BB1441BAD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908247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ECAC5-8180-B16F-8D4F-24578339F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6A2D44-339C-9382-C7EE-C88B13535E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B1BE8-B153-2841-9EAA-CA5F2FD5B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0C2DA-637B-B549-8334-DE0B5A7DCFA5}" type="datetimeFigureOut">
              <a:rPr lang="en-CY" smtClean="0"/>
              <a:t>21/03/2024</a:t>
            </a:fld>
            <a:endParaRPr lang="en-C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C2655-BEEC-FC1C-C39F-4D6205372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CB393-8CAB-03C7-5A42-D37A37B18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B8EAC-C08F-3F4A-A519-AB6BB1441BAD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2201769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C4AACE-D383-3761-49B3-837526B71B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1CAC04-5925-9EA4-F874-6EE3F77CFA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4E218-7238-D29F-E765-1F2E970AB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0C2DA-637B-B549-8334-DE0B5A7DCFA5}" type="datetimeFigureOut">
              <a:rPr lang="en-CY" smtClean="0"/>
              <a:t>21/03/2024</a:t>
            </a:fld>
            <a:endParaRPr lang="en-C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E51363-3EC0-CC2D-568C-80B065E55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EB9A5-955E-5DA3-D782-17AD5469C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B8EAC-C08F-3F4A-A519-AB6BB1441BAD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4255156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B54706-E1FE-FD0C-2D33-6585A24AC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152B6E-FE01-EA1E-D1DD-DD1AF6C3A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F110DA-069A-11AE-AE52-3693F0D623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C0C2DA-637B-B549-8334-DE0B5A7DCFA5}" type="datetimeFigureOut">
              <a:rPr lang="en-CY" smtClean="0"/>
              <a:t>21/03/2024</a:t>
            </a:fld>
            <a:endParaRPr lang="en-C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35763-2DE1-F91D-A21C-1B35AF994B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EFFD3-FF87-041D-891B-7F362822F1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2B8EAC-C08F-3F4A-A519-AB6BB1441BAD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219019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78">
            <a:extLst>
              <a:ext uri="{FF2B5EF4-FFF2-40B4-BE49-F238E27FC236}">
                <a16:creationId xmlns:a16="http://schemas.microsoft.com/office/drawing/2014/main" id="{9B9D9F71-4376-92EE-83F4-1FDC82314B84}"/>
              </a:ext>
            </a:extLst>
          </p:cNvPr>
          <p:cNvSpPr/>
          <p:nvPr/>
        </p:nvSpPr>
        <p:spPr>
          <a:xfrm>
            <a:off x="1064018" y="602674"/>
            <a:ext cx="10265524" cy="56526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Y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E49364-4D6F-D1F3-AC40-18AB998622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/>
          </a:bodyPr>
          <a:lstStyle/>
          <a:p>
            <a:r>
              <a:rPr lang="en-GB" sz="4800" b="1" dirty="0">
                <a:solidFill>
                  <a:schemeClr val="bg2">
                    <a:lumMod val="25000"/>
                  </a:schemeClr>
                </a:solidFill>
              </a:rPr>
              <a:t>Analysis of gender stereotypes in personality assessments of recorded speech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220870-6944-B05C-05F2-A4425831CA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158238"/>
            <a:ext cx="9144000" cy="671062"/>
          </a:xfrm>
        </p:spPr>
        <p:txBody>
          <a:bodyPr>
            <a:normAutofit fontScale="85000" lnSpcReduction="20000"/>
          </a:bodyPr>
          <a:lstStyle/>
          <a:p>
            <a:r>
              <a:rPr lang="en-CY" dirty="0">
                <a:solidFill>
                  <a:schemeClr val="bg2">
                    <a:lumMod val="25000"/>
                  </a:schemeClr>
                </a:solidFill>
              </a:rPr>
              <a:t>Sofia Karamichali – GUID: 2570646K</a:t>
            </a:r>
          </a:p>
          <a:p>
            <a:r>
              <a:rPr lang="en-CY" dirty="0">
                <a:solidFill>
                  <a:schemeClr val="bg2">
                    <a:lumMod val="25000"/>
                  </a:schemeClr>
                </a:solidFill>
              </a:rPr>
              <a:t>Supervisor: Dr Evangelia Fringi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7ACB130-0B35-0627-CD9A-DE1237DCB967}"/>
              </a:ext>
            </a:extLst>
          </p:cNvPr>
          <p:cNvCxnSpPr/>
          <p:nvPr/>
        </p:nvCxnSpPr>
        <p:spPr>
          <a:xfrm>
            <a:off x="1524000" y="5013914"/>
            <a:ext cx="934556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9756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C79AD-73AC-A26C-0D33-D9DA44DDB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Y" b="1" dirty="0">
                <a:solidFill>
                  <a:schemeClr val="bg2">
                    <a:lumMod val="25000"/>
                  </a:schemeClr>
                </a:solidFill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12A29-2D8A-B5AD-9301-099710142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25000"/>
                  </a:schemeClr>
                </a:solidFill>
              </a:rPr>
              <a:t>Project motivation &amp; </a:t>
            </a:r>
            <a:r>
              <a:rPr lang="en-CY" dirty="0">
                <a:solidFill>
                  <a:schemeClr val="bg2">
                    <a:lumMod val="25000"/>
                  </a:schemeClr>
                </a:solidFill>
              </a:rPr>
              <a:t>aims</a:t>
            </a:r>
          </a:p>
          <a:p>
            <a:r>
              <a:rPr lang="en-CY" dirty="0">
                <a:solidFill>
                  <a:schemeClr val="bg2">
                    <a:lumMod val="25000"/>
                  </a:schemeClr>
                </a:solidFill>
              </a:rPr>
              <a:t>The corpus</a:t>
            </a:r>
          </a:p>
          <a:p>
            <a:r>
              <a:rPr lang="en-CY" dirty="0">
                <a:solidFill>
                  <a:schemeClr val="bg2">
                    <a:lumMod val="25000"/>
                  </a:schemeClr>
                </a:solidFill>
              </a:rPr>
              <a:t>Process</a:t>
            </a:r>
          </a:p>
          <a:p>
            <a:pPr lvl="1"/>
            <a:r>
              <a:rPr lang="en-CY" dirty="0">
                <a:solidFill>
                  <a:schemeClr val="bg2">
                    <a:lumMod val="25000"/>
                  </a:schemeClr>
                </a:solidFill>
              </a:rPr>
              <a:t>Statistical Analysis</a:t>
            </a:r>
          </a:p>
          <a:p>
            <a:pPr lvl="1"/>
            <a:r>
              <a:rPr lang="en-CY" dirty="0">
                <a:solidFill>
                  <a:schemeClr val="bg2">
                    <a:lumMod val="25000"/>
                  </a:schemeClr>
                </a:solidFill>
              </a:rPr>
              <a:t>Machine Learning</a:t>
            </a:r>
          </a:p>
          <a:p>
            <a:pPr lvl="1"/>
            <a:r>
              <a:rPr lang="en-CY" dirty="0">
                <a:solidFill>
                  <a:schemeClr val="bg2">
                    <a:lumMod val="25000"/>
                  </a:schemeClr>
                </a:solidFill>
              </a:rPr>
              <a:t>Within gender assessment</a:t>
            </a:r>
          </a:p>
          <a:p>
            <a:r>
              <a:rPr lang="en-CY" dirty="0">
                <a:solidFill>
                  <a:schemeClr val="bg2">
                    <a:lumMod val="25000"/>
                  </a:schemeClr>
                </a:solidFill>
              </a:rPr>
              <a:t>Results &amp; Conclusions</a:t>
            </a:r>
          </a:p>
          <a:p>
            <a:r>
              <a:rPr lang="en-CY" dirty="0">
                <a:solidFill>
                  <a:schemeClr val="bg2">
                    <a:lumMod val="25000"/>
                  </a:schemeClr>
                </a:solidFill>
              </a:rPr>
              <a:t>Future work</a:t>
            </a:r>
          </a:p>
          <a:p>
            <a:pPr marL="0" indent="0">
              <a:buNone/>
            </a:pPr>
            <a:endParaRPr lang="en-CY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AF48929-62C9-FA66-ADEF-5BA5DAC4AF35}"/>
              </a:ext>
            </a:extLst>
          </p:cNvPr>
          <p:cNvCxnSpPr>
            <a:cxnSpLocks/>
          </p:cNvCxnSpPr>
          <p:nvPr/>
        </p:nvCxnSpPr>
        <p:spPr>
          <a:xfrm>
            <a:off x="838200" y="1371599"/>
            <a:ext cx="103853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1065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5BD20-BE0B-4C2E-633F-323A4423E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Y" b="1" dirty="0">
                <a:solidFill>
                  <a:schemeClr val="bg2">
                    <a:lumMod val="25000"/>
                  </a:schemeClr>
                </a:solidFill>
              </a:rPr>
              <a:t>Motivation/Aims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23B55-C08C-6FA6-9AED-0FB86CA7A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Y" dirty="0">
                <a:solidFill>
                  <a:schemeClr val="bg2">
                    <a:lumMod val="25000"/>
                  </a:schemeClr>
                </a:solidFill>
              </a:rPr>
              <a:t>Personality Perception in social psychology</a:t>
            </a:r>
          </a:p>
          <a:p>
            <a:r>
              <a:rPr lang="en-CY" dirty="0">
                <a:solidFill>
                  <a:schemeClr val="bg2">
                    <a:lumMod val="25000"/>
                  </a:schemeClr>
                </a:solidFill>
              </a:rPr>
              <a:t>Analysis of Gender stereotypes in personality perception</a:t>
            </a:r>
          </a:p>
          <a:p>
            <a:pPr lvl="1"/>
            <a:r>
              <a:rPr lang="en-CY" dirty="0">
                <a:solidFill>
                  <a:schemeClr val="bg2">
                    <a:lumMod val="25000"/>
                  </a:schemeClr>
                </a:solidFill>
              </a:rPr>
              <a:t>Under zero acquaintace</a:t>
            </a:r>
          </a:p>
          <a:p>
            <a:pPr lvl="1"/>
            <a:r>
              <a:rPr lang="en-CY" dirty="0">
                <a:solidFill>
                  <a:schemeClr val="bg2">
                    <a:lumMod val="25000"/>
                  </a:schemeClr>
                </a:solidFill>
              </a:rPr>
              <a:t>Using non-verbal speech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FE9D260-EB5D-32CF-607F-9735D9B26B0E}"/>
              </a:ext>
            </a:extLst>
          </p:cNvPr>
          <p:cNvCxnSpPr>
            <a:cxnSpLocks/>
          </p:cNvCxnSpPr>
          <p:nvPr/>
        </p:nvCxnSpPr>
        <p:spPr>
          <a:xfrm>
            <a:off x="838200" y="1371599"/>
            <a:ext cx="103853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6590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0E000-5C06-72E9-5D78-7C54A3E6E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Y" b="1" dirty="0">
                <a:solidFill>
                  <a:schemeClr val="bg2">
                    <a:lumMod val="25000"/>
                  </a:schemeClr>
                </a:solidFill>
              </a:rPr>
              <a:t>The corpus *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79D13-C238-4E72-9C99-A841B1A26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Y" dirty="0">
                <a:solidFill>
                  <a:schemeClr val="bg2">
                    <a:lumMod val="25000"/>
                  </a:schemeClr>
                </a:solidFill>
              </a:rPr>
              <a:t>640 audio recordings from a Swiss radio channel</a:t>
            </a:r>
          </a:p>
          <a:p>
            <a:r>
              <a:rPr lang="en-CY" dirty="0">
                <a:solidFill>
                  <a:schemeClr val="bg2">
                    <a:lumMod val="25000"/>
                  </a:schemeClr>
                </a:solidFill>
              </a:rPr>
              <a:t>11 non french speaking judges</a:t>
            </a:r>
          </a:p>
          <a:p>
            <a:r>
              <a:rPr lang="en-CY" dirty="0">
                <a:solidFill>
                  <a:schemeClr val="bg2">
                    <a:lumMod val="25000"/>
                  </a:schemeClr>
                </a:solidFill>
              </a:rPr>
              <a:t>The Big Five personality triats**</a:t>
            </a:r>
          </a:p>
          <a:p>
            <a:pPr lvl="1"/>
            <a:r>
              <a:rPr lang="en-CY" dirty="0">
                <a:solidFill>
                  <a:schemeClr val="bg2">
                    <a:lumMod val="25000"/>
                  </a:schemeClr>
                </a:solidFill>
              </a:rPr>
              <a:t>Openness, Concienciousness, Extraversion, Agreeableness, Neuroticism</a:t>
            </a:r>
          </a:p>
          <a:p>
            <a:pPr lvl="1"/>
            <a:r>
              <a:rPr lang="en-GB" dirty="0">
                <a:solidFill>
                  <a:schemeClr val="bg2">
                    <a:lumMod val="25000"/>
                  </a:schemeClr>
                </a:solidFill>
              </a:rPr>
              <a:t>F</a:t>
            </a:r>
            <a:r>
              <a:rPr lang="en-CY" dirty="0">
                <a:solidFill>
                  <a:schemeClr val="bg2">
                    <a:lumMod val="25000"/>
                  </a:schemeClr>
                </a:solidFill>
              </a:rPr>
              <a:t>ive scores for every speaker from each judge</a:t>
            </a:r>
          </a:p>
          <a:p>
            <a:pPr marL="0" indent="0">
              <a:buNone/>
            </a:pPr>
            <a:endParaRPr lang="en-CY" dirty="0"/>
          </a:p>
          <a:p>
            <a:pPr marL="0" indent="0">
              <a:buNone/>
            </a:pPr>
            <a:endParaRPr lang="en-CY" sz="2200" dirty="0">
              <a:solidFill>
                <a:schemeClr val="bg2">
                  <a:lumMod val="25000"/>
                </a:schemeClr>
              </a:solidFill>
            </a:endParaRPr>
          </a:p>
          <a:p>
            <a:pPr marL="0" indent="0">
              <a:buNone/>
            </a:pPr>
            <a:endParaRPr lang="en-CY" sz="2200" dirty="0">
              <a:solidFill>
                <a:schemeClr val="bg2">
                  <a:lumMod val="25000"/>
                </a:schemeClr>
              </a:solidFill>
            </a:endParaRPr>
          </a:p>
          <a:p>
            <a:pPr marL="0" indent="0">
              <a:buNone/>
            </a:pPr>
            <a:r>
              <a:rPr lang="en-CY" sz="1800" u="sng" dirty="0">
                <a:solidFill>
                  <a:schemeClr val="bg2">
                    <a:lumMod val="25000"/>
                  </a:schemeClr>
                </a:solidFill>
              </a:rPr>
              <a:t>Sources:</a:t>
            </a:r>
            <a:r>
              <a:rPr lang="en-CY" sz="1800" dirty="0">
                <a:solidFill>
                  <a:schemeClr val="bg2">
                    <a:lumMod val="25000"/>
                  </a:schemeClr>
                </a:solidFill>
              </a:rPr>
              <a:t> </a:t>
            </a:r>
          </a:p>
          <a:p>
            <a:pPr marL="0" indent="0">
              <a:buNone/>
            </a:pPr>
            <a:r>
              <a:rPr lang="en-CY" sz="1800" dirty="0">
                <a:solidFill>
                  <a:schemeClr val="bg2">
                    <a:lumMod val="25000"/>
                  </a:schemeClr>
                </a:solidFill>
              </a:rPr>
              <a:t>* </a:t>
            </a:r>
            <a:r>
              <a:rPr lang="en-GB" sz="1800" b="0" i="0" u="none" strike="noStrike" dirty="0">
                <a:solidFill>
                  <a:schemeClr val="bg2">
                    <a:lumMod val="25000"/>
                  </a:schemeClr>
                </a:solidFill>
                <a:effectLst/>
              </a:rPr>
              <a:t>G. Mohammadi and A. </a:t>
            </a:r>
            <a:r>
              <a:rPr lang="en-GB" sz="1800" b="0" i="0" u="none" strike="noStrike" dirty="0" err="1">
                <a:solidFill>
                  <a:schemeClr val="bg2">
                    <a:lumMod val="25000"/>
                  </a:schemeClr>
                </a:solidFill>
                <a:effectLst/>
              </a:rPr>
              <a:t>Vinciarelli</a:t>
            </a:r>
            <a:r>
              <a:rPr lang="en-GB" sz="1800" b="0" i="0" u="none" strike="noStrike" dirty="0">
                <a:solidFill>
                  <a:schemeClr val="bg2">
                    <a:lumMod val="25000"/>
                  </a:schemeClr>
                </a:solidFill>
                <a:effectLst/>
              </a:rPr>
              <a:t>. IEEE transactions on affective computing 1 automatic personality perception: Prediction of trait attribution based on prosodic features. 2012.</a:t>
            </a:r>
            <a:br>
              <a:rPr lang="en-GB" sz="1800" b="0" i="0" u="none" strike="noStrike" dirty="0">
                <a:solidFill>
                  <a:schemeClr val="bg2">
                    <a:lumMod val="25000"/>
                  </a:schemeClr>
                </a:solidFill>
                <a:effectLst/>
              </a:rPr>
            </a:br>
            <a:r>
              <a:rPr lang="en-GB" sz="1800" b="0" i="0" u="none" strike="noStrike" dirty="0">
                <a:solidFill>
                  <a:schemeClr val="bg2">
                    <a:lumMod val="25000"/>
                  </a:schemeClr>
                </a:solidFill>
                <a:effectLst/>
              </a:rPr>
              <a:t>** R. R. </a:t>
            </a:r>
            <a:r>
              <a:rPr lang="en-GB" sz="1800" b="0" i="0" u="none" strike="noStrike" dirty="0" err="1">
                <a:solidFill>
                  <a:schemeClr val="bg2">
                    <a:lumMod val="25000"/>
                  </a:schemeClr>
                </a:solidFill>
                <a:effectLst/>
              </a:rPr>
              <a:t>Mccrae</a:t>
            </a:r>
            <a:r>
              <a:rPr lang="en-GB" sz="1800" b="0" i="0" u="none" strike="noStrike" dirty="0">
                <a:solidFill>
                  <a:schemeClr val="bg2">
                    <a:lumMod val="25000"/>
                  </a:schemeClr>
                </a:solidFill>
                <a:effectLst/>
              </a:rPr>
              <a:t> and O. P. John. An introduction to the five-factor model and its applications.1992.</a:t>
            </a:r>
            <a:endParaRPr lang="en-CY" sz="1800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3514400-B7C0-7D84-6A18-A7F6488E2575}"/>
              </a:ext>
            </a:extLst>
          </p:cNvPr>
          <p:cNvCxnSpPr>
            <a:cxnSpLocks/>
          </p:cNvCxnSpPr>
          <p:nvPr/>
        </p:nvCxnSpPr>
        <p:spPr>
          <a:xfrm>
            <a:off x="838200" y="1371599"/>
            <a:ext cx="103853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9953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8CBFD-788C-D958-2B59-7BA40570B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Y" b="1" dirty="0">
                <a:solidFill>
                  <a:schemeClr val="bg2">
                    <a:lumMod val="25000"/>
                  </a:schemeClr>
                </a:solidFill>
              </a:rPr>
              <a:t>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4087C-9B01-2A38-1A59-7597A3720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Y" dirty="0"/>
              <a:t>Project Aim: </a:t>
            </a:r>
          </a:p>
          <a:p>
            <a:pPr lvl="1"/>
            <a:r>
              <a:rPr lang="en-CY" b="1" dirty="0"/>
              <a:t>Analysis of gender stereotype influence on personality percpetion under zero acquiantance using the corpus</a:t>
            </a:r>
            <a:endParaRPr lang="en-CY" b="1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CY" dirty="0">
                <a:solidFill>
                  <a:schemeClr val="bg2">
                    <a:lumMod val="25000"/>
                  </a:schemeClr>
                </a:solidFill>
              </a:rPr>
              <a:t>Process: </a:t>
            </a:r>
          </a:p>
          <a:p>
            <a:pPr lvl="1"/>
            <a:r>
              <a:rPr lang="en-CY" dirty="0">
                <a:solidFill>
                  <a:schemeClr val="bg2">
                    <a:lumMod val="25000"/>
                  </a:schemeClr>
                </a:solidFill>
              </a:rPr>
              <a:t>Statistical analysis</a:t>
            </a:r>
          </a:p>
          <a:p>
            <a:pPr lvl="1"/>
            <a:r>
              <a:rPr lang="en-CY" dirty="0">
                <a:solidFill>
                  <a:schemeClr val="bg2">
                    <a:lumMod val="25000"/>
                  </a:schemeClr>
                </a:solidFill>
              </a:rPr>
              <a:t>Machine Learning methodologies</a:t>
            </a:r>
          </a:p>
          <a:p>
            <a:pPr lvl="1"/>
            <a:r>
              <a:rPr lang="en-CY" dirty="0">
                <a:solidFill>
                  <a:schemeClr val="bg2">
                    <a:lumMod val="25000"/>
                  </a:schemeClr>
                </a:solidFill>
              </a:rPr>
              <a:t>Within gender assessment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E2438C-57DA-6417-1D08-FEA9D518FA4B}"/>
              </a:ext>
            </a:extLst>
          </p:cNvPr>
          <p:cNvCxnSpPr>
            <a:cxnSpLocks/>
          </p:cNvCxnSpPr>
          <p:nvPr/>
        </p:nvCxnSpPr>
        <p:spPr>
          <a:xfrm>
            <a:off x="838200" y="1371599"/>
            <a:ext cx="103853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621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28257-E278-CF0E-D3D7-D554DC049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Y" b="1" dirty="0">
                <a:solidFill>
                  <a:schemeClr val="bg2">
                    <a:lumMod val="25000"/>
                  </a:schemeClr>
                </a:solidFill>
              </a:rPr>
              <a:t>Statistical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EC9F0-2A54-C4BC-06EF-5D263E72E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1664"/>
            <a:ext cx="10515600" cy="4351338"/>
          </a:xfrm>
        </p:spPr>
        <p:txBody>
          <a:bodyPr/>
          <a:lstStyle/>
          <a:p>
            <a:r>
              <a:rPr lang="en-GB" sz="2400" dirty="0">
                <a:solidFill>
                  <a:schemeClr val="bg2">
                    <a:lumMod val="25000"/>
                  </a:schemeClr>
                </a:solidFill>
              </a:rPr>
              <a:t>I</a:t>
            </a:r>
            <a:r>
              <a:rPr lang="en-CY" sz="2400" dirty="0">
                <a:solidFill>
                  <a:schemeClr val="bg2">
                    <a:lumMod val="25000"/>
                  </a:schemeClr>
                </a:solidFill>
              </a:rPr>
              <a:t>nter-rater agreement</a:t>
            </a:r>
          </a:p>
          <a:p>
            <a:pPr lvl="1"/>
            <a:r>
              <a:rPr lang="en-GB" sz="2000" dirty="0">
                <a:solidFill>
                  <a:schemeClr val="bg2">
                    <a:lumMod val="25000"/>
                  </a:schemeClr>
                </a:solidFill>
              </a:rPr>
              <a:t>A</a:t>
            </a:r>
            <a:r>
              <a:rPr lang="en-CY" sz="2000" dirty="0">
                <a:solidFill>
                  <a:schemeClr val="bg2">
                    <a:lumMod val="25000"/>
                  </a:schemeClr>
                </a:solidFill>
              </a:rPr>
              <a:t>greement between the 11 judges</a:t>
            </a:r>
          </a:p>
          <a:p>
            <a:pPr lvl="1"/>
            <a:r>
              <a:rPr lang="en-CY" sz="2000" dirty="0">
                <a:solidFill>
                  <a:schemeClr val="bg2">
                    <a:lumMod val="25000"/>
                  </a:schemeClr>
                </a:solidFill>
              </a:rPr>
              <a:t>Spearman’s rank correlation &amp; Spearman-Brown reliability</a:t>
            </a:r>
          </a:p>
          <a:p>
            <a:r>
              <a:rPr lang="en-CY" sz="2400" dirty="0">
                <a:solidFill>
                  <a:schemeClr val="bg2">
                    <a:lumMod val="25000"/>
                  </a:schemeClr>
                </a:solidFill>
              </a:rPr>
              <a:t>Gender differences</a:t>
            </a:r>
          </a:p>
          <a:p>
            <a:pPr lvl="1"/>
            <a:r>
              <a:rPr lang="en-CY" sz="2000" dirty="0">
                <a:solidFill>
                  <a:schemeClr val="bg2">
                    <a:lumMod val="25000"/>
                  </a:schemeClr>
                </a:solidFill>
              </a:rPr>
              <a:t>Student’s t tests</a:t>
            </a:r>
          </a:p>
          <a:p>
            <a:pPr lvl="1"/>
            <a:r>
              <a:rPr lang="en-CY" sz="2000" dirty="0">
                <a:solidFill>
                  <a:schemeClr val="bg2">
                    <a:lumMod val="25000"/>
                  </a:schemeClr>
                </a:solidFill>
              </a:rPr>
              <a:t>Imbalanced gender distribution in the dataset</a:t>
            </a:r>
          </a:p>
          <a:p>
            <a:pPr lvl="1"/>
            <a:endParaRPr lang="en-CY" dirty="0">
              <a:solidFill>
                <a:schemeClr val="bg2">
                  <a:lumMod val="25000"/>
                </a:schemeClr>
              </a:solidFill>
            </a:endParaRPr>
          </a:p>
          <a:p>
            <a:pPr lvl="1"/>
            <a:endParaRPr lang="en-CY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5" name="Content Placeholder 4" descr="A diagram of a chart&#10;&#10;Description automatically generated with medium confidence">
            <a:extLst>
              <a:ext uri="{FF2B5EF4-FFF2-40B4-BE49-F238E27FC236}">
                <a16:creationId xmlns:a16="http://schemas.microsoft.com/office/drawing/2014/main" id="{F4F184DE-9430-3D17-E3B1-B1A684BE47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6150" y="3692278"/>
            <a:ext cx="7759700" cy="22733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FD15E45-46EF-43EE-F3F4-1DE3ECE7ED8B}"/>
              </a:ext>
            </a:extLst>
          </p:cNvPr>
          <p:cNvSpPr txBox="1"/>
          <p:nvPr/>
        </p:nvSpPr>
        <p:spPr>
          <a:xfrm>
            <a:off x="878509" y="5965578"/>
            <a:ext cx="1069119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0" i="1" u="none" strike="noStrike" dirty="0">
                <a:effectLst/>
              </a:rPr>
              <a:t>Figure: A series of Box plots illustrating the average personality assessment scores given to audio recordings by the judges. Each plot represents a Big Five personality trait under which the scores were assigned which are separated into the two boxes dedicated to the binary genders. "*" indicators suggest statistical significance according to the t-test results between the genders per trait.</a:t>
            </a:r>
            <a:endParaRPr lang="en-CY" sz="1100" i="1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78845AD-4AF0-B15C-8657-E216B24DF859}"/>
              </a:ext>
            </a:extLst>
          </p:cNvPr>
          <p:cNvCxnSpPr>
            <a:cxnSpLocks/>
          </p:cNvCxnSpPr>
          <p:nvPr/>
        </p:nvCxnSpPr>
        <p:spPr>
          <a:xfrm>
            <a:off x="838200" y="1371599"/>
            <a:ext cx="103853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4776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16D8A-F49D-85C4-EB04-BA20DD269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Y" b="1" dirty="0">
                <a:solidFill>
                  <a:schemeClr val="bg2">
                    <a:lumMod val="25000"/>
                  </a:schemeClr>
                </a:solidFill>
              </a:rPr>
              <a:t>Machine Learning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C964D-292A-371E-B776-8C5A7A3AE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/>
          <a:lstStyle/>
          <a:p>
            <a:r>
              <a:rPr lang="en-CY" dirty="0">
                <a:solidFill>
                  <a:schemeClr val="bg2">
                    <a:lumMod val="25000"/>
                  </a:schemeClr>
                </a:solidFill>
              </a:rPr>
              <a:t>Used the scikit-learn python library</a:t>
            </a:r>
          </a:p>
          <a:p>
            <a:r>
              <a:rPr lang="en-CY" dirty="0">
                <a:solidFill>
                  <a:schemeClr val="bg2">
                    <a:lumMod val="25000"/>
                  </a:schemeClr>
                </a:solidFill>
              </a:rPr>
              <a:t>Five classification algorithms were used</a:t>
            </a:r>
          </a:p>
          <a:p>
            <a:pPr lvl="1"/>
            <a:r>
              <a:rPr lang="en-CY" dirty="0">
                <a:solidFill>
                  <a:schemeClr val="bg2">
                    <a:lumMod val="25000"/>
                  </a:schemeClr>
                </a:solidFill>
              </a:rPr>
              <a:t>Features: Big five scores </a:t>
            </a:r>
          </a:p>
          <a:p>
            <a:pPr lvl="1"/>
            <a:r>
              <a:rPr lang="en-CY" dirty="0">
                <a:solidFill>
                  <a:schemeClr val="bg2">
                    <a:lumMod val="25000"/>
                  </a:schemeClr>
                </a:solidFill>
              </a:rPr>
              <a:t>Labels: Binary gender</a:t>
            </a:r>
          </a:p>
          <a:p>
            <a:r>
              <a:rPr lang="en-CY" dirty="0">
                <a:solidFill>
                  <a:schemeClr val="bg2">
                    <a:lumMod val="25000"/>
                  </a:schemeClr>
                </a:solidFill>
              </a:rPr>
              <a:t>Stratified group k-fold cross validation was used</a:t>
            </a:r>
          </a:p>
          <a:p>
            <a:r>
              <a:rPr lang="en-CY" dirty="0">
                <a:solidFill>
                  <a:schemeClr val="bg2">
                    <a:lumMod val="25000"/>
                  </a:schemeClr>
                </a:solidFill>
              </a:rPr>
              <a:t>Hyperparameter tuning was done</a:t>
            </a:r>
          </a:p>
          <a:p>
            <a:r>
              <a:rPr lang="en-CY" dirty="0">
                <a:solidFill>
                  <a:schemeClr val="bg2">
                    <a:lumMod val="25000"/>
                  </a:schemeClr>
                </a:solidFill>
              </a:rPr>
              <a:t>Evalutation of the model performance</a:t>
            </a:r>
          </a:p>
          <a:p>
            <a:pPr lvl="1"/>
            <a:r>
              <a:rPr lang="en-CY" dirty="0">
                <a:solidFill>
                  <a:schemeClr val="bg2">
                    <a:lumMod val="25000"/>
                  </a:schemeClr>
                </a:solidFill>
              </a:rPr>
              <a:t>Accuracy score &amp; Binomial test </a:t>
            </a:r>
          </a:p>
          <a:p>
            <a:pPr lvl="1"/>
            <a:r>
              <a:rPr lang="en-CY" dirty="0">
                <a:solidFill>
                  <a:schemeClr val="bg2">
                    <a:lumMod val="25000"/>
                  </a:schemeClr>
                </a:solidFill>
              </a:rPr>
              <a:t>Student’s t-tests for all performance metrics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34FC2D3-046C-CB45-C4CB-DDB8BD307728}"/>
              </a:ext>
            </a:extLst>
          </p:cNvPr>
          <p:cNvCxnSpPr>
            <a:cxnSpLocks/>
          </p:cNvCxnSpPr>
          <p:nvPr/>
        </p:nvCxnSpPr>
        <p:spPr>
          <a:xfrm>
            <a:off x="838200" y="1371599"/>
            <a:ext cx="103853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2241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3F8FB834-389D-CA0A-FEB2-BE0B28397609}"/>
              </a:ext>
            </a:extLst>
          </p:cNvPr>
          <p:cNvSpPr/>
          <p:nvPr/>
        </p:nvSpPr>
        <p:spPr>
          <a:xfrm>
            <a:off x="846865" y="310858"/>
            <a:ext cx="10498269" cy="623628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Y"/>
          </a:p>
        </p:txBody>
      </p:sp>
      <p:pic>
        <p:nvPicPr>
          <p:cNvPr id="5" name="Content Placeholder 4" descr="A group of colorful bars&#10;&#10;Description automatically generated">
            <a:extLst>
              <a:ext uri="{FF2B5EF4-FFF2-40B4-BE49-F238E27FC236}">
                <a16:creationId xmlns:a16="http://schemas.microsoft.com/office/drawing/2014/main" id="{9AFB7EDD-4942-4497-6F0F-DBF06FB744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46089" y="420040"/>
            <a:ext cx="7099820" cy="4714128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105930-AB46-85FB-65B4-28B4CBCCC9C5}"/>
              </a:ext>
            </a:extLst>
          </p:cNvPr>
          <p:cNvSpPr txBox="1"/>
          <p:nvPr/>
        </p:nvSpPr>
        <p:spPr>
          <a:xfrm>
            <a:off x="2710767" y="5332823"/>
            <a:ext cx="69351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00" b="0" i="1" u="none" strike="noStrike" dirty="0">
                <a:effectLst/>
              </a:rPr>
              <a:t>Figure: </a:t>
            </a:r>
            <a:r>
              <a:rPr lang="en-GB" sz="1500" dirty="0"/>
              <a:t>Bar charts for every performance metric for each classification algorithm's performance post hyperparameter tuning. The "*" indicators suggest statistical significance as a result of Student's t tests between the metric over the k-folds and the prior probability of 66%.</a:t>
            </a:r>
            <a:endParaRPr lang="en-CY" sz="1500" dirty="0"/>
          </a:p>
        </p:txBody>
      </p:sp>
    </p:spTree>
    <p:extLst>
      <p:ext uri="{BB962C8B-B14F-4D97-AF65-F5344CB8AC3E}">
        <p14:creationId xmlns:p14="http://schemas.microsoft.com/office/powerpoint/2010/main" val="1750084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ED150-C00D-E7A9-A354-2E588EEDA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Y" b="1" dirty="0">
                <a:solidFill>
                  <a:schemeClr val="bg2">
                    <a:lumMod val="25000"/>
                  </a:schemeClr>
                </a:solidFill>
              </a:rPr>
              <a:t>Within gender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A6442-C899-BDC8-5B48-1498D185F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Y" dirty="0">
                <a:solidFill>
                  <a:schemeClr val="bg2">
                    <a:lumMod val="25000"/>
                  </a:schemeClr>
                </a:solidFill>
              </a:rPr>
              <a:t>Fundamental frequency &amp; gender</a:t>
            </a:r>
          </a:p>
          <a:p>
            <a:r>
              <a:rPr lang="en-CY" dirty="0">
                <a:solidFill>
                  <a:schemeClr val="bg2">
                    <a:lumMod val="25000"/>
                  </a:schemeClr>
                </a:solidFill>
              </a:rPr>
              <a:t>Within gender personality perception</a:t>
            </a:r>
          </a:p>
          <a:p>
            <a:r>
              <a:rPr lang="en-CY" dirty="0">
                <a:solidFill>
                  <a:schemeClr val="bg2">
                    <a:lumMod val="25000"/>
                  </a:schemeClr>
                </a:solidFill>
              </a:rPr>
              <a:t>Within gender inter-rater agreement</a:t>
            </a:r>
          </a:p>
          <a:p>
            <a:r>
              <a:rPr lang="en-CY" dirty="0">
                <a:solidFill>
                  <a:schemeClr val="bg2">
                    <a:lumMod val="25000"/>
                  </a:schemeClr>
                </a:solidFill>
              </a:rPr>
              <a:t>Fundemental frequency extraction using </a:t>
            </a:r>
            <a:br>
              <a:rPr lang="en-CY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CY" dirty="0">
                <a:solidFill>
                  <a:schemeClr val="bg2">
                    <a:lumMod val="25000"/>
                  </a:schemeClr>
                </a:solidFill>
              </a:rPr>
              <a:t>the openSmile* tool</a:t>
            </a:r>
          </a:p>
          <a:p>
            <a:r>
              <a:rPr lang="en-CY" dirty="0">
                <a:solidFill>
                  <a:schemeClr val="bg2">
                    <a:lumMod val="25000"/>
                  </a:schemeClr>
                </a:solidFill>
              </a:rPr>
              <a:t>Spearman’s rank to compare the Big five </a:t>
            </a:r>
            <a:br>
              <a:rPr lang="en-CY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CY" dirty="0">
                <a:solidFill>
                  <a:schemeClr val="bg2">
                    <a:lumMod val="25000"/>
                  </a:schemeClr>
                </a:solidFill>
              </a:rPr>
              <a:t>scores and fundamental frequency</a:t>
            </a:r>
          </a:p>
          <a:p>
            <a:endParaRPr lang="en-CY" sz="3000" dirty="0">
              <a:solidFill>
                <a:schemeClr val="bg2">
                  <a:lumMod val="25000"/>
                </a:schemeClr>
              </a:solidFill>
            </a:endParaRPr>
          </a:p>
          <a:p>
            <a:pPr marL="0" indent="0">
              <a:buNone/>
            </a:pPr>
            <a:r>
              <a:rPr lang="en-CY" sz="1900" u="sng" dirty="0">
                <a:solidFill>
                  <a:schemeClr val="bg2">
                    <a:lumMod val="25000"/>
                  </a:schemeClr>
                </a:solidFill>
              </a:rPr>
              <a:t>Sources: </a:t>
            </a:r>
            <a:br>
              <a:rPr lang="en-CY" sz="19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CY" sz="1900" dirty="0">
                <a:solidFill>
                  <a:schemeClr val="bg2">
                    <a:lumMod val="25000"/>
                  </a:schemeClr>
                </a:solidFill>
              </a:rPr>
              <a:t>* </a:t>
            </a:r>
            <a:r>
              <a:rPr lang="en-GB" sz="1900" dirty="0">
                <a:solidFill>
                  <a:schemeClr val="bg2">
                    <a:lumMod val="25000"/>
                  </a:schemeClr>
                </a:solidFill>
              </a:rPr>
              <a:t>F. </a:t>
            </a:r>
            <a:r>
              <a:rPr lang="en-GB" sz="1900" dirty="0" err="1">
                <a:solidFill>
                  <a:schemeClr val="bg2">
                    <a:lumMod val="25000"/>
                  </a:schemeClr>
                </a:solidFill>
              </a:rPr>
              <a:t>Eyben</a:t>
            </a:r>
            <a:r>
              <a:rPr lang="en-GB" sz="1900" dirty="0">
                <a:solidFill>
                  <a:schemeClr val="bg2">
                    <a:lumMod val="25000"/>
                  </a:schemeClr>
                </a:solidFill>
              </a:rPr>
              <a:t>, M. </a:t>
            </a:r>
            <a:r>
              <a:rPr lang="en-GB" sz="1900" dirty="0" err="1">
                <a:solidFill>
                  <a:schemeClr val="bg2">
                    <a:lumMod val="25000"/>
                  </a:schemeClr>
                </a:solidFill>
              </a:rPr>
              <a:t>Wöllmer</a:t>
            </a:r>
            <a:r>
              <a:rPr lang="en-GB" sz="1900" dirty="0">
                <a:solidFill>
                  <a:schemeClr val="bg2">
                    <a:lumMod val="25000"/>
                  </a:schemeClr>
                </a:solidFill>
              </a:rPr>
              <a:t>, and B. Schuller. </a:t>
            </a:r>
            <a:r>
              <a:rPr lang="en-GB" sz="1900" dirty="0" err="1">
                <a:solidFill>
                  <a:schemeClr val="bg2">
                    <a:lumMod val="25000"/>
                  </a:schemeClr>
                </a:solidFill>
              </a:rPr>
              <a:t>Opensmile</a:t>
            </a:r>
            <a:r>
              <a:rPr lang="en-GB" sz="1900" dirty="0">
                <a:solidFill>
                  <a:schemeClr val="bg2">
                    <a:lumMod val="25000"/>
                  </a:schemeClr>
                </a:solidFill>
              </a:rPr>
              <a:t>: the </a:t>
            </a:r>
            <a:r>
              <a:rPr lang="en-GB" sz="1900" dirty="0" err="1">
                <a:solidFill>
                  <a:schemeClr val="bg2">
                    <a:lumMod val="25000"/>
                  </a:schemeClr>
                </a:solidFill>
              </a:rPr>
              <a:t>munich</a:t>
            </a:r>
            <a:r>
              <a:rPr lang="en-GB" sz="1900" dirty="0">
                <a:solidFill>
                  <a:schemeClr val="bg2">
                    <a:lumMod val="25000"/>
                  </a:schemeClr>
                </a:solidFill>
              </a:rPr>
              <a:t> versatile and fast open-source audio feature extractor. MM ’10, page 1459–1462, New York, NY, USA, 2010. Association for Computing Machinery. </a:t>
            </a:r>
            <a:endParaRPr lang="en-CY" sz="1900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0E1A5AD-1B82-FB2E-87D4-5FAC2D8D1C76}"/>
              </a:ext>
            </a:extLst>
          </p:cNvPr>
          <p:cNvCxnSpPr>
            <a:cxnSpLocks/>
          </p:cNvCxnSpPr>
          <p:nvPr/>
        </p:nvCxnSpPr>
        <p:spPr>
          <a:xfrm>
            <a:off x="838200" y="1371599"/>
            <a:ext cx="103853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5" name="Content Placeholder 7" descr="A graph of a distribution of audio&#10;&#10;Description automatically generated with medium confidence">
            <a:extLst>
              <a:ext uri="{FF2B5EF4-FFF2-40B4-BE49-F238E27FC236}">
                <a16:creationId xmlns:a16="http://schemas.microsoft.com/office/drawing/2014/main" id="{DECE5A48-4D76-5FE8-5FE4-7611623E20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1393" y="1590445"/>
            <a:ext cx="3331906" cy="269051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2BDCAEC-5F7F-D47A-1039-D86BC9BF4727}"/>
              </a:ext>
            </a:extLst>
          </p:cNvPr>
          <p:cNvSpPr txBox="1"/>
          <p:nvPr/>
        </p:nvSpPr>
        <p:spPr>
          <a:xfrm>
            <a:off x="7831394" y="4280960"/>
            <a:ext cx="3392130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0" i="1" strike="noStrike" dirty="0">
                <a:effectLst/>
              </a:rPr>
              <a:t>Figure</a:t>
            </a:r>
            <a:r>
              <a:rPr lang="en-GB" sz="1200" b="0" i="1" u="none" strike="noStrike" dirty="0">
                <a:effectLst/>
              </a:rPr>
              <a:t>: Distribution of average fundamental frequency 𝑓0 values per audio recording for the two gender groups.</a:t>
            </a:r>
          </a:p>
          <a:p>
            <a:endParaRPr lang="en-GB" sz="1100" b="0" i="1" u="none" strike="noStrike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76772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F0C1787F-9B12-0D22-6BE2-1928B514AB41}"/>
              </a:ext>
            </a:extLst>
          </p:cNvPr>
          <p:cNvSpPr/>
          <p:nvPr/>
        </p:nvSpPr>
        <p:spPr>
          <a:xfrm>
            <a:off x="846865" y="405816"/>
            <a:ext cx="10498269" cy="623628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Y"/>
          </a:p>
        </p:txBody>
      </p:sp>
      <p:pic>
        <p:nvPicPr>
          <p:cNvPr id="5" name="Content Placeholder 4" descr="A group of graphs with numbers&#10;&#10;Description automatically generated with medium confidence">
            <a:extLst>
              <a:ext uri="{FF2B5EF4-FFF2-40B4-BE49-F238E27FC236}">
                <a16:creationId xmlns:a16="http://schemas.microsoft.com/office/drawing/2014/main" id="{BAE2A57C-B5DD-6482-8C96-47F5893F8D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88530" y="866135"/>
            <a:ext cx="5074770" cy="5050888"/>
          </a:xfrm>
        </p:spPr>
      </p:pic>
      <p:pic>
        <p:nvPicPr>
          <p:cNvPr id="7" name="Picture 6" descr="A screenshot of a graph&#10;&#10;Description automatically generated">
            <a:extLst>
              <a:ext uri="{FF2B5EF4-FFF2-40B4-BE49-F238E27FC236}">
                <a16:creationId xmlns:a16="http://schemas.microsoft.com/office/drawing/2014/main" id="{8AC70C94-B69F-6E08-DA1C-B67C172FF6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230" y="866135"/>
            <a:ext cx="4630615" cy="506948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60C1EBE-C031-F835-9D85-36BFE71D68DE}"/>
              </a:ext>
            </a:extLst>
          </p:cNvPr>
          <p:cNvSpPr txBox="1"/>
          <p:nvPr/>
        </p:nvSpPr>
        <p:spPr>
          <a:xfrm>
            <a:off x="1021230" y="5954213"/>
            <a:ext cx="507477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0" i="1" u="none" strike="noStrike" dirty="0">
                <a:effectLst/>
              </a:rPr>
              <a:t>Figure: A series of Box plots illustrating the range of average 𝑓0 values corresponding to each personality perception score for a specific trait assigned to female speakers.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D98B26-16A1-014E-4707-5A61E2F50C43}"/>
              </a:ext>
            </a:extLst>
          </p:cNvPr>
          <p:cNvSpPr txBox="1"/>
          <p:nvPr/>
        </p:nvSpPr>
        <p:spPr>
          <a:xfrm>
            <a:off x="6096000" y="5998075"/>
            <a:ext cx="507477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0" i="1" u="none" strike="noStrike" dirty="0">
                <a:effectLst/>
              </a:rPr>
              <a:t>Figure: A series of Box plots illustrating the range of average 𝑓0 values corresponding to each personality perception score for a specific trait assigned to male speakers.</a:t>
            </a:r>
          </a:p>
        </p:txBody>
      </p:sp>
    </p:spTree>
    <p:extLst>
      <p:ext uri="{BB962C8B-B14F-4D97-AF65-F5344CB8AC3E}">
        <p14:creationId xmlns:p14="http://schemas.microsoft.com/office/powerpoint/2010/main" val="2947302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DDA3F-7142-DF52-9BEB-990C9EBC6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Y" b="1" dirty="0">
                <a:solidFill>
                  <a:schemeClr val="bg2">
                    <a:lumMod val="25000"/>
                  </a:schemeClr>
                </a:solidFill>
              </a:rPr>
              <a:t>The results &amp; 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BCB15-3E12-71F1-5054-F7A80D079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Y" dirty="0"/>
              <a:t>Gender stereotypes appear to influence personality perception under zero acquaintance</a:t>
            </a:r>
          </a:p>
          <a:p>
            <a:r>
              <a:rPr lang="en-CY" dirty="0"/>
              <a:t>T</a:t>
            </a:r>
            <a:r>
              <a:rPr lang="en-GB" dirty="0"/>
              <a:t>he</a:t>
            </a:r>
            <a:r>
              <a:rPr lang="en-CY" dirty="0"/>
              <a:t> impact of gender stereotypes on within gender personality perception remains unclear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7D4EC2F-399E-1598-BDE1-21141B1F7107}"/>
              </a:ext>
            </a:extLst>
          </p:cNvPr>
          <p:cNvCxnSpPr>
            <a:cxnSpLocks/>
          </p:cNvCxnSpPr>
          <p:nvPr/>
        </p:nvCxnSpPr>
        <p:spPr>
          <a:xfrm>
            <a:off x="838200" y="1371599"/>
            <a:ext cx="103853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0335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1D333-1FD5-F800-92C0-D15FC9749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Y" b="1" dirty="0">
                <a:solidFill>
                  <a:schemeClr val="bg2">
                    <a:lumMod val="25000"/>
                  </a:schemeClr>
                </a:solidFill>
              </a:rPr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DABA6-8F80-B520-099D-3C95D37D6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Y" dirty="0"/>
              <a:t>U</a:t>
            </a:r>
            <a:r>
              <a:rPr lang="en-GB" dirty="0"/>
              <a:t>s</a:t>
            </a:r>
            <a:r>
              <a:rPr lang="en-CY" dirty="0"/>
              <a:t>e of more extensive datasets to establish more conclusive results for the within gender impact of gender bias.</a:t>
            </a:r>
          </a:p>
          <a:p>
            <a:r>
              <a:rPr lang="en-CY" dirty="0"/>
              <a:t>Introduction of more inclusive and representative datasets of the gender spectrum</a:t>
            </a:r>
          </a:p>
          <a:p>
            <a:r>
              <a:rPr lang="en-GB" dirty="0"/>
              <a:t> Further investigation on the adoption of machine learning for the detection of gender stereotypes in datasets.</a:t>
            </a:r>
            <a:endParaRPr lang="en-CY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69E3F8F-B64A-C7B0-93F8-EA18666D2DEF}"/>
              </a:ext>
            </a:extLst>
          </p:cNvPr>
          <p:cNvCxnSpPr>
            <a:cxnSpLocks/>
          </p:cNvCxnSpPr>
          <p:nvPr/>
        </p:nvCxnSpPr>
        <p:spPr>
          <a:xfrm>
            <a:off x="838200" y="1371599"/>
            <a:ext cx="103853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4875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868E2-86E4-A75B-14D3-AD014285E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89642"/>
            <a:ext cx="10515600" cy="1325563"/>
          </a:xfrm>
        </p:spPr>
        <p:txBody>
          <a:bodyPr>
            <a:normAutofit/>
          </a:bodyPr>
          <a:lstStyle/>
          <a:p>
            <a:r>
              <a:rPr lang="en-CY" sz="5400" b="1" dirty="0"/>
              <a:t>Thank you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BFB32C5-796D-1AFC-AEFD-5AB936FDCB3C}"/>
              </a:ext>
            </a:extLst>
          </p:cNvPr>
          <p:cNvCxnSpPr>
            <a:cxnSpLocks/>
          </p:cNvCxnSpPr>
          <p:nvPr/>
        </p:nvCxnSpPr>
        <p:spPr>
          <a:xfrm>
            <a:off x="838200" y="5884605"/>
            <a:ext cx="103853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5991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5781</TotalTime>
  <Words>630</Words>
  <Application>Microsoft Macintosh PowerPoint</Application>
  <PresentationFormat>Widescreen</PresentationFormat>
  <Paragraphs>86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Analysis of gender stereotypes in personality assessments of recorded speech</vt:lpstr>
      <vt:lpstr>Agenda</vt:lpstr>
      <vt:lpstr>Motivation/Aims</vt:lpstr>
      <vt:lpstr>The corpus *</vt:lpstr>
      <vt:lpstr>Process</vt:lpstr>
      <vt:lpstr>Statistical Analysis</vt:lpstr>
      <vt:lpstr>Machine Learning Approach</vt:lpstr>
      <vt:lpstr>PowerPoint Presentation</vt:lpstr>
      <vt:lpstr>Within gender assessment</vt:lpstr>
      <vt:lpstr>PowerPoint Presentation</vt:lpstr>
      <vt:lpstr>The results &amp; conclusions</vt:lpstr>
      <vt:lpstr>Future work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Sofia Karamichali (student)</dc:creator>
  <cp:lastModifiedBy>Sofia Karamichali (student)</cp:lastModifiedBy>
  <cp:revision>12</cp:revision>
  <dcterms:created xsi:type="dcterms:W3CDTF">2024-03-11T22:38:54Z</dcterms:created>
  <dcterms:modified xsi:type="dcterms:W3CDTF">2024-03-21T10:34:13Z</dcterms:modified>
</cp:coreProperties>
</file>